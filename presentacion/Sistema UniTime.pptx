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66" r:id="rId14"/>
    <p:sldId id="276" r:id="rId15"/>
    <p:sldId id="275" r:id="rId16"/>
    <p:sldId id="277" r:id="rId17"/>
    <p:sldId id="267" r:id="rId18"/>
    <p:sldId id="278" r:id="rId19"/>
    <p:sldId id="268" r:id="rId20"/>
    <p:sldId id="269" r:id="rId21"/>
    <p:sldId id="270" r:id="rId22"/>
    <p:sldId id="273" r:id="rId23"/>
    <p:sldId id="274" r:id="rId2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4" d="100"/>
          <a:sy n="124" d="100"/>
        </p:scale>
        <p:origin x="48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07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64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56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81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4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20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09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50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54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7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9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20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361BF8-EE48-72A2-0E04-5DE2155C2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3343" y="1137215"/>
            <a:ext cx="5804426" cy="337676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4600" dirty="0"/>
              <a:t>Sistema UniTime</a:t>
            </a:r>
            <a:br>
              <a:rPr lang="es-ES" sz="4600" dirty="0"/>
            </a:br>
            <a:r>
              <a:rPr lang="es-ES" sz="2800" dirty="0"/>
              <a:t>Documentación de Arquitectura y Software </a:t>
            </a:r>
            <a:br>
              <a:rPr lang="es-ES" sz="4600" dirty="0"/>
            </a:br>
            <a:endParaRPr lang="es-CO" sz="4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C60CF-315A-648C-6458-3066720EB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3343" y="4698347"/>
            <a:ext cx="5412440" cy="1002678"/>
          </a:xfrm>
        </p:spPr>
        <p:txBody>
          <a:bodyPr anchor="b">
            <a:normAutofit/>
          </a:bodyPr>
          <a:lstStyle/>
          <a:p>
            <a:r>
              <a:rPr lang="es-CO" sz="2200"/>
              <a:t>Andrés Felipe Urueña Serrano  </a:t>
            </a:r>
          </a:p>
          <a:p>
            <a:r>
              <a:rPr lang="es-CO" sz="2200"/>
              <a:t>Juan David Santiago Romero Muñoz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E60E2B5-7848-7FBD-AD75-70F490B46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83" y="1014400"/>
            <a:ext cx="4515301" cy="482919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723900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634B8-311A-4810-A5DB-7043D028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6134100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708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FB91EE-D27D-D500-9D21-530B9D44A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s-CO" sz="3600"/>
              <a:t>¿Cuál era el problema?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21FB53-5CA4-DFC2-D04E-7776C8CA8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r>
              <a:rPr lang="es-CO" dirty="0"/>
              <a:t>Los estudiantes debían ir físicamente al área administrativa para saber sus horas de bienestar</a:t>
            </a:r>
          </a:p>
          <a:p>
            <a:r>
              <a:rPr lang="es-CO" dirty="0"/>
              <a:t>Proceso manual: papel, errores, demoras</a:t>
            </a:r>
          </a:p>
          <a:p>
            <a:r>
              <a:rPr lang="es-CO" dirty="0"/>
              <a:t>Sin visibilidad de actividades disponibles</a:t>
            </a:r>
          </a:p>
          <a:p>
            <a:r>
              <a:rPr lang="es-CO" dirty="0"/>
              <a:t>Sin certificados automáticos</a:t>
            </a:r>
          </a:p>
          <a:p>
            <a:endParaRPr lang="es-CO" dirty="0"/>
          </a:p>
        </p:txBody>
      </p:sp>
      <p:pic>
        <p:nvPicPr>
          <p:cNvPr id="4" name="Imagen 3" descr="icono de varios documentos con una x roja en la pantalla del portátil. una  prueba o encuesta fallida. ilustración vectorial dibujada a mano. 16072364  Vector en Vecteezy">
            <a:extLst>
              <a:ext uri="{FF2B5EF4-FFF2-40B4-BE49-F238E27FC236}">
                <a16:creationId xmlns:a16="http://schemas.microsoft.com/office/drawing/2014/main" id="{4216088C-75E2-193D-ED8F-1947059E91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3" r="9264" b="2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92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3C0333-C880-4720-76CD-5DBD603FC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s-CO"/>
              <a:t>¿Qué es UniTime?</a:t>
            </a:r>
            <a:endParaRPr lang="es-CO" dirty="0"/>
          </a:p>
        </p:txBody>
      </p:sp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EA1DEA92-E25A-1AEE-3822-E100741A67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86"/>
          <a:stretch>
            <a:fillRect/>
          </a:stretch>
        </p:blipFill>
        <p:spPr>
          <a:xfrm>
            <a:off x="804672" y="1826263"/>
            <a:ext cx="5586603" cy="4296153"/>
          </a:xfrm>
          <a:prstGeom prst="rect">
            <a:avLst/>
          </a:prstGeom>
          <a:solidFill>
            <a:srgbClr val="000000">
              <a:shade val="95000"/>
            </a:srgbClr>
          </a:solidFill>
          <a:ln w="3175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5E16C5-1831-2C12-2DFD-D01C776E2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1" y="1826263"/>
            <a:ext cx="4819903" cy="3775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UniTime es una plataforma web que centraliza toda la gestión de bienestar universitario.</a:t>
            </a:r>
          </a:p>
          <a:p>
            <a:r>
              <a:rPr lang="es-ES" dirty="0"/>
              <a:t>Inscripción a talleres en línea </a:t>
            </a:r>
          </a:p>
          <a:p>
            <a:r>
              <a:rPr lang="es-ES" dirty="0"/>
              <a:t>Registro de asistencia por código QR </a:t>
            </a:r>
          </a:p>
          <a:p>
            <a:r>
              <a:rPr lang="es-ES" dirty="0"/>
              <a:t>Cálculo automático de horas </a:t>
            </a:r>
          </a:p>
          <a:p>
            <a:r>
              <a:rPr lang="es-ES" dirty="0"/>
              <a:t>Certificados digitales en PDF sin intervención administrativa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64887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13661-0411-ABEA-0367-5C3C3D91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Actores del sistema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7ED447B5-F634-213B-CCC1-A590BADCF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3872" y="1841243"/>
            <a:ext cx="7664255" cy="3737430"/>
          </a:xfrm>
          <a:prstGeom prst="rect">
            <a:avLst/>
          </a:prstGeom>
          <a:solidFill>
            <a:srgbClr val="000000">
              <a:shade val="95000"/>
            </a:srgbClr>
          </a:solidFill>
          <a:ln w="3175" cap="sq">
            <a:solidFill>
              <a:schemeClr val="tx1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56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109E738-3B9E-4529-9D47-C9708D612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7D83C2-C56D-AA85-D7BC-49CEC022E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6" y="610738"/>
            <a:ext cx="2932736" cy="3515588"/>
          </a:xfrm>
        </p:spPr>
        <p:txBody>
          <a:bodyPr>
            <a:normAutofit/>
          </a:bodyPr>
          <a:lstStyle/>
          <a:p>
            <a:r>
              <a:rPr lang="es-ES" sz="3100"/>
              <a:t>Arquitectura: ¿Por qué tres capas?</a:t>
            </a:r>
            <a:endParaRPr lang="es-CO" sz="31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DE69BD-5C6A-4086-B43B-2E48E20AB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61951" y="723900"/>
            <a:ext cx="0" cy="323337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E7D651-F203-DFAE-8B8B-9A865C7CC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6186" y="610738"/>
            <a:ext cx="7216449" cy="3515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Se evaluaron 3 arquitecturas mas:</a:t>
            </a:r>
          </a:p>
          <a:p>
            <a:r>
              <a:rPr lang="es-CO" dirty="0"/>
              <a:t>Monolítica</a:t>
            </a:r>
          </a:p>
          <a:p>
            <a:r>
              <a:rPr lang="es-CO" dirty="0"/>
              <a:t>Microservicios </a:t>
            </a:r>
          </a:p>
          <a:p>
            <a:r>
              <a:rPr lang="es-CO" dirty="0"/>
              <a:t>Cliente-Servidor</a:t>
            </a:r>
          </a:p>
          <a:p>
            <a:pPr marL="0" indent="0">
              <a:buNone/>
            </a:pPr>
            <a:r>
              <a:rPr lang="es-ES" dirty="0"/>
              <a:t>La arquitectura en tres capas fue el punto de equilibrio correcto para UniTime </a:t>
            </a: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A8CDFC2-51AC-3FAD-8FC6-A32BC1D7C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33" y="4252437"/>
            <a:ext cx="2807380" cy="18871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30ACED8-02C4-9BA0-55A0-BC17FA65C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438" y="4252437"/>
            <a:ext cx="2824958" cy="188711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F28B60A-5715-8EFD-4666-60FEF2CB9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2075" y="4252437"/>
            <a:ext cx="2850431" cy="18737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7BBAE8B-5B8C-A150-DF40-578F2559D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252437"/>
            <a:ext cx="2866582" cy="186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2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BD9A2-67AC-6252-674D-D28DBAC5B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Las tres capas explicadas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4E38D-3EC8-A4E8-56DF-6E4FD72CF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5124093" cy="3739896"/>
          </a:xfrm>
        </p:spPr>
        <p:txBody>
          <a:bodyPr/>
          <a:lstStyle/>
          <a:p>
            <a:r>
              <a:rPr lang="es-ES" dirty="0"/>
              <a:t>Capa de Presentación: Vistas PHP solo muestra datos al usuario</a:t>
            </a:r>
          </a:p>
          <a:p>
            <a:r>
              <a:rPr lang="es-ES" dirty="0"/>
              <a:t>Capa de Lógica de Negocio: Controladores PHP  procesa, valida, decide</a:t>
            </a:r>
          </a:p>
          <a:p>
            <a:r>
              <a:rPr lang="es-ES" dirty="0"/>
              <a:t>Capa de Datos: Modelos PHP + MySQL guarda y recupera información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Cada capa tiene una única responsabilidad. Un cambio en una no afecta las demás.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028835-6264-9C16-7C00-7802956EE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274" y="1924050"/>
            <a:ext cx="4787195" cy="3914775"/>
          </a:xfrm>
          <a:prstGeom prst="rect">
            <a:avLst/>
          </a:prstGeom>
          <a:solidFill>
            <a:srgbClr val="000000">
              <a:shade val="95000"/>
            </a:srgbClr>
          </a:solidFill>
          <a:ln w="6350" cap="sq">
            <a:solidFill>
              <a:schemeClr val="tx1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6381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ABF6B1-3A9A-4CEE-889E-0D96AB03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04196A-8BB1-8BA3-77EA-F0B557028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4297083"/>
            <a:ext cx="10721711" cy="108174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Tecnologías y por qué se eligieron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29B76F6-A6BB-FD11-7BAC-825F5A8C9B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75"/>
          <a:stretch>
            <a:fillRect/>
          </a:stretch>
        </p:blipFill>
        <p:spPr>
          <a:xfrm>
            <a:off x="187234" y="1170453"/>
            <a:ext cx="3086099" cy="2809128"/>
          </a:xfrm>
          <a:prstGeom prst="rect">
            <a:avLst/>
          </a:prstGeom>
        </p:spPr>
      </p:pic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A4A3448F-3999-880B-870E-053F548B4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87608" y="2035062"/>
            <a:ext cx="3313715" cy="178940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A23E93E-4F55-C32E-B0C0-82F765C71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920" y="2020593"/>
            <a:ext cx="4482118" cy="1789405"/>
          </a:xfrm>
          <a:prstGeom prst="rect">
            <a:avLst/>
          </a:prstGeom>
          <a:solidFill>
            <a:srgbClr val="000000">
              <a:shade val="95000"/>
            </a:srgbClr>
          </a:solidFill>
          <a:ln w="3175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0AA8030-FA65-4B8E-8530-372EEE851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149164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174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E8E8A-B7D7-75CA-AB6F-CDA97E07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75263A-1C92-FDDE-794E-F0DCA5388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5133237" cy="3739896"/>
          </a:xfrm>
        </p:spPr>
        <p:txBody>
          <a:bodyPr>
            <a:normAutofit lnSpcReduction="10000"/>
          </a:bodyPr>
          <a:lstStyle/>
          <a:p>
            <a:r>
              <a:rPr lang="es-ES" sz="1800" dirty="0"/>
              <a:t>La base de datos tiene 6 tablas relacionadas:" USUARIOS, TALLERES, INSCRIPCIONES, ASISTENCIAS, CERTIFICADOS, LOGS_SISTEMA</a:t>
            </a:r>
          </a:p>
          <a:p>
            <a:r>
              <a:rPr lang="es-ES" sz="1800" dirty="0"/>
              <a:t>Mecanismos de integridad:</a:t>
            </a:r>
          </a:p>
          <a:p>
            <a:r>
              <a:rPr lang="es-ES" sz="1800" dirty="0"/>
              <a:t>PRIMARY KEY en todas las tablas</a:t>
            </a:r>
          </a:p>
          <a:p>
            <a:r>
              <a:rPr lang="es-ES" sz="1800" dirty="0"/>
              <a:t>FOREIGN KEY para relaciones obligatorias</a:t>
            </a:r>
          </a:p>
          <a:p>
            <a:r>
              <a:rPr lang="es-ES" sz="1800" dirty="0"/>
              <a:t>UNIQUE para evitar duplicados (ej: inscripción doble)</a:t>
            </a:r>
          </a:p>
          <a:p>
            <a:r>
              <a:rPr lang="es-ES" sz="1800" dirty="0"/>
              <a:t>NOT NULL en campos obligatorios</a:t>
            </a:r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D04DF4-4821-2DA1-B7C9-F682DDF899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49"/>
          <a:stretch>
            <a:fillRect/>
          </a:stretch>
        </p:blipFill>
        <p:spPr bwMode="auto">
          <a:xfrm>
            <a:off x="6096000" y="1168813"/>
            <a:ext cx="5122185" cy="4042457"/>
          </a:xfrm>
          <a:prstGeom prst="rect">
            <a:avLst/>
          </a:prstGeom>
          <a:solidFill>
            <a:srgbClr val="000000">
              <a:shade val="95000"/>
            </a:srgbClr>
          </a:solidFill>
          <a:ln w="3175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724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4865D-09E4-DC9D-4BC8-2610344F9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Drivers arquitectónicos</a:t>
            </a: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8FE4D52-709F-276C-DDA4-F23468046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288" y="1910842"/>
            <a:ext cx="5065979" cy="37401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7B69F0D-7A6B-45DB-7894-4F7A3F7A1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736" y="1910842"/>
            <a:ext cx="5525818" cy="374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7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484F1D-92B6-1BD1-609F-E2D4E9908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Atributos de calidad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0751E38-A1D3-7DCB-5D50-116B03A98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1227" y="593231"/>
            <a:ext cx="6833178" cy="567153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628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5E7BC-4676-C21A-7E56-760B74A83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Decisiones arquitectónicas</a:t>
            </a:r>
            <a:endParaRPr lang="es-CO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F1B9CA0-8B52-B823-631E-99CDA2BEF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9055"/>
          <a:stretch>
            <a:fillRect/>
          </a:stretch>
        </p:blipFill>
        <p:spPr>
          <a:xfrm>
            <a:off x="314325" y="2143632"/>
            <a:ext cx="3487170" cy="296176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481070A-5636-4123-841A-99EB9422D5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268"/>
          <a:stretch>
            <a:fillRect/>
          </a:stretch>
        </p:blipFill>
        <p:spPr>
          <a:xfrm>
            <a:off x="3891473" y="2162837"/>
            <a:ext cx="3789218" cy="292335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E0B011D-3A04-A3C8-79B9-04C8106F41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798"/>
          <a:stretch>
            <a:fillRect/>
          </a:stretch>
        </p:blipFill>
        <p:spPr>
          <a:xfrm>
            <a:off x="7770669" y="2221992"/>
            <a:ext cx="4201024" cy="304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0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BAE0013-B839-5854-1B82-94374B7CF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1117"/>
          <a:stretch>
            <a:fillRect/>
          </a:stretch>
        </p:blipFill>
        <p:spPr>
          <a:xfrm>
            <a:off x="671402" y="1476375"/>
            <a:ext cx="5119283" cy="377332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51CF159-6E3B-293B-EB5E-2C0EED313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608299"/>
            <a:ext cx="5206787" cy="364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FCF60-E671-2A95-6803-E51EEC11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 DE PRUEBAS</a:t>
            </a:r>
            <a:endParaRPr lang="es-CO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6819C21-D085-3D2A-081B-954881911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451"/>
          <a:stretch>
            <a:fillRect/>
          </a:stretch>
        </p:blipFill>
        <p:spPr bwMode="auto">
          <a:xfrm>
            <a:off x="1775955" y="1804152"/>
            <a:ext cx="6916022" cy="38666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5785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8DF73E0-0108-89B0-8CFF-13DF72EBD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5690" y="1862448"/>
            <a:ext cx="6877306" cy="313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70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3">
            <a:extLst>
              <a:ext uri="{FF2B5EF4-FFF2-40B4-BE49-F238E27FC236}">
                <a16:creationId xmlns:a16="http://schemas.microsoft.com/office/drawing/2014/main" id="{80F6D6BA-02DE-03A5-8D36-0A63BDE14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504"/>
          <a:stretch>
            <a:fillRect/>
          </a:stretch>
        </p:blipFill>
        <p:spPr bwMode="auto">
          <a:xfrm>
            <a:off x="2088472" y="1569821"/>
            <a:ext cx="6686694" cy="37183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37065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1E3E8-82C9-EA11-5D86-DAFD0EA9A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5C34251-99B4-9AF4-B2DD-51836A8AD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66"/>
          <a:stretch>
            <a:fillRect/>
          </a:stretch>
        </p:blipFill>
        <p:spPr bwMode="auto">
          <a:xfrm>
            <a:off x="2113109" y="1640008"/>
            <a:ext cx="6909843" cy="43876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14312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E2AF1931-FCF9-0E8E-4C3A-9F54931A4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573" y="727955"/>
            <a:ext cx="5031724" cy="56669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3792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45AE799-ADC7-8994-C365-217E029AE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360" y="694306"/>
            <a:ext cx="4840942" cy="56949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0391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1C54E-8E46-CE86-BF69-6703FB47C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 pruebas reales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428CCE-2328-0AFA-5D70-D171DEEA1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2215096"/>
            <a:ext cx="10691265" cy="3739896"/>
          </a:xfrm>
        </p:spPr>
        <p:txBody>
          <a:bodyPr/>
          <a:lstStyle/>
          <a:p>
            <a:r>
              <a:rPr lang="es-CO" dirty="0"/>
              <a:t>AU-01 — Login exitoso</a:t>
            </a:r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6945BD-536A-9388-6EDB-FB35B2B1F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847" y="2747808"/>
            <a:ext cx="2704020" cy="2688263"/>
          </a:xfrm>
          <a:prstGeom prst="rect">
            <a:avLst/>
          </a:prstGeom>
          <a:noFill/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E4F1796-67FE-EAE7-AEF0-AC1C28E6B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03" y="5657850"/>
            <a:ext cx="4021709" cy="285750"/>
          </a:xfrm>
          <a:prstGeom prst="rect">
            <a:avLst/>
          </a:prstGeom>
          <a:noFill/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7D52F8C5-B53D-6B57-CF54-191DD13CCF1A}"/>
              </a:ext>
            </a:extLst>
          </p:cNvPr>
          <p:cNvSpPr txBox="1">
            <a:spLocks/>
          </p:cNvSpPr>
          <p:nvPr/>
        </p:nvSpPr>
        <p:spPr>
          <a:xfrm>
            <a:off x="6285217" y="2233384"/>
            <a:ext cx="321909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RE-01 — Registro exitoso</a:t>
            </a:r>
            <a:endParaRPr lang="es-CO" dirty="0"/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5FB3AA0-0A42-4567-1DBE-E02172A380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912" y="2892372"/>
            <a:ext cx="2220595" cy="26979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4314A0F-8E72-ED68-E099-60EB69C53A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358" y="5657850"/>
            <a:ext cx="5864541" cy="2755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2423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5D25EF-A7DF-C1DA-371C-8A3219D88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355" y="960120"/>
            <a:ext cx="3898797" cy="3739896"/>
          </a:xfrm>
        </p:spPr>
        <p:txBody>
          <a:bodyPr/>
          <a:lstStyle/>
          <a:p>
            <a:r>
              <a:rPr lang="es-CO" dirty="0"/>
              <a:t>RE-02 — Correo ya registrado</a:t>
            </a:r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DA8AE3-6ADF-3EF3-EF45-21B1F17B8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39" y="1693259"/>
            <a:ext cx="3452628" cy="347148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ABF811B-84DC-1CA9-5D49-EB026584F495}"/>
              </a:ext>
            </a:extLst>
          </p:cNvPr>
          <p:cNvSpPr txBox="1"/>
          <p:nvPr/>
        </p:nvSpPr>
        <p:spPr>
          <a:xfrm>
            <a:off x="6211824" y="9601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3876675" algn="l"/>
              </a:tabLst>
            </a:pPr>
            <a:r>
              <a:rPr lang="es-CO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RE-03 — Contraseñas no coinciden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E4B9B0D-680F-E32A-29DF-A64F8F99C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454" y="1693259"/>
            <a:ext cx="3134858" cy="347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29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09956-2E6D-533C-3B1D-E1A39E4D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Riesgos identificados</a:t>
            </a:r>
          </a:p>
        </p:txBody>
      </p:sp>
      <p:pic>
        <p:nvPicPr>
          <p:cNvPr id="17" name="Marcador de contenido 16">
            <a:extLst>
              <a:ext uri="{FF2B5EF4-FFF2-40B4-BE49-F238E27FC236}">
                <a16:creationId xmlns:a16="http://schemas.microsoft.com/office/drawing/2014/main" id="{A71FA035-CC03-7630-EBC9-FC1A7076B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620" y="1562704"/>
            <a:ext cx="5305921" cy="408905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D3775C7-F946-B8CE-B299-9795EAE20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556" y="1959429"/>
            <a:ext cx="5948053" cy="279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79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5EADC-A175-B38A-73FA-F751D4902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Deuda técnica y checklist de producción</a:t>
            </a:r>
            <a:endParaRPr lang="es-CO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1AF9CAC-ED5B-CF0D-D735-6AE15AEFA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432" b="24193"/>
          <a:stretch>
            <a:fillRect/>
          </a:stretch>
        </p:blipFill>
        <p:spPr>
          <a:xfrm>
            <a:off x="800100" y="1885950"/>
            <a:ext cx="4400256" cy="3905250"/>
          </a:xfrm>
          <a:prstGeom prst="rect">
            <a:avLst/>
          </a:prstGeom>
        </p:spPr>
      </p:pic>
      <p:pic>
        <p:nvPicPr>
          <p:cNvPr id="5" name="Marcador de contenido 3">
            <a:extLst>
              <a:ext uri="{FF2B5EF4-FFF2-40B4-BE49-F238E27FC236}">
                <a16:creationId xmlns:a16="http://schemas.microsoft.com/office/drawing/2014/main" id="{A2EAEA65-48AB-DFD7-966D-445B8F622D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33" t="74909" r="433" b="-57"/>
          <a:stretch>
            <a:fillRect/>
          </a:stretch>
        </p:blipFill>
        <p:spPr>
          <a:xfrm>
            <a:off x="5378835" y="2328262"/>
            <a:ext cx="6507212" cy="236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461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329CB-9EB8-ECB0-C357-AE26FA61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CFD9E0-9107-1216-F7C7-AC9FDAA49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67637"/>
            <a:ext cx="6376821" cy="4275963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UniTime resuelve un problema real utilizando tecnología accesible con decisiones técnicas bien justificadas. La arquitectura en tres capas facilita la mantenibilidad, la seguridad y la escalabilidad funcional del sistema. Actualmente, el sistema es funcional y seguro para su escala, y cuenta con un plan claro de mejoras. La deuda técnica está documentada y priorizada, lista para ser abordada en próximas iteraciones.</a:t>
            </a:r>
          </a:p>
          <a:p>
            <a:r>
              <a:rPr lang="es-ES" b="1" dirty="0"/>
              <a:t>UniTime resuelve un problema real</a:t>
            </a:r>
            <a:r>
              <a:rPr lang="es-ES" dirty="0"/>
              <a:t> con tecnología accesible y decisiones bien justificadas.</a:t>
            </a:r>
          </a:p>
          <a:p>
            <a:r>
              <a:rPr lang="es-ES" dirty="0"/>
              <a:t> </a:t>
            </a:r>
            <a:r>
              <a:rPr lang="es-ES" b="1" dirty="0"/>
              <a:t>Arquitectura en tres capas</a:t>
            </a:r>
            <a:r>
              <a:rPr lang="es-ES" dirty="0"/>
              <a:t>: facilita mantenibilidad, seguridad y escalabilidad funcional. </a:t>
            </a:r>
          </a:p>
          <a:p>
            <a:r>
              <a:rPr lang="es-ES" b="1" dirty="0"/>
              <a:t>Sistema funcional y seguro</a:t>
            </a:r>
            <a:r>
              <a:rPr lang="es-ES" dirty="0"/>
              <a:t> para la escala actual, con planes claros de mejora.</a:t>
            </a:r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0B9D61-1805-EFAB-A552-A74C1843CA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81" t="22842" r="19922" b="2858"/>
          <a:stretch>
            <a:fillRect/>
          </a:stretch>
        </p:blipFill>
        <p:spPr>
          <a:xfrm>
            <a:off x="6858381" y="1205484"/>
            <a:ext cx="4980544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9124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396</Words>
  <Application>Microsoft Office PowerPoint</Application>
  <PresentationFormat>Panorámica</PresentationFormat>
  <Paragraphs>51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Arial</vt:lpstr>
      <vt:lpstr>Calisto MT</vt:lpstr>
      <vt:lpstr>Times New Roman</vt:lpstr>
      <vt:lpstr>Univers Condensed</vt:lpstr>
      <vt:lpstr>ChronicleVTI</vt:lpstr>
      <vt:lpstr>Sistema UniTime Documentación de Arquitectura y Software  </vt:lpstr>
      <vt:lpstr>¿Cuál era el problema?</vt:lpstr>
      <vt:lpstr>¿Qué es UniTime?</vt:lpstr>
      <vt:lpstr>Actores del sistema</vt:lpstr>
      <vt:lpstr>Arquitectura: ¿Por qué tres capas?</vt:lpstr>
      <vt:lpstr>Las tres capas explicadas</vt:lpstr>
      <vt:lpstr>Tecnologías y por qué se eligieron</vt:lpstr>
      <vt:lpstr>Base de datos</vt:lpstr>
      <vt:lpstr>Drivers arquitectónicos</vt:lpstr>
      <vt:lpstr>Atributos de calidad</vt:lpstr>
      <vt:lpstr>Decisiones arquitectónicas</vt:lpstr>
      <vt:lpstr>Presentación de PowerPoint</vt:lpstr>
      <vt:lpstr>PLAN DE PRUEBAS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Ejemplos pruebas reales</vt:lpstr>
      <vt:lpstr>Presentación de PowerPoint</vt:lpstr>
      <vt:lpstr>Riesgos identificados</vt:lpstr>
      <vt:lpstr>Deuda técnica y checklist de producción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Andres Felipe Urueña Serrano</dc:creator>
  <cp:lastModifiedBy>Andres Felipe Urueña Serrano</cp:lastModifiedBy>
  <cp:revision>2</cp:revision>
  <dcterms:created xsi:type="dcterms:W3CDTF">2026-05-14T04:47:18Z</dcterms:created>
  <dcterms:modified xsi:type="dcterms:W3CDTF">2026-05-15T16:23:53Z</dcterms:modified>
</cp:coreProperties>
</file>